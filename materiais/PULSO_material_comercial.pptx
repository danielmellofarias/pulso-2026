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1 — A DOR</a:t>
            </a:r>
          </a:p>
          <a:p>
            <a:r>
              <a:t>A campanha cresce mais rápido do que a informação chega ao comando. A origem do problema é estrutural, não falha do candidato ou da equipe. A página deve ser lida em menos de 10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2 — A SOLUÇÃO</a:t>
            </a:r>
          </a:p>
          <a:p>
            <a:r>
              <a:t>A página demonstra simplicidade de uso, engenharia invisível, visão territorial e acompanhamento humano. Os números do briefing são uma simulação editorial e não representam dados reais de campanha.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46520" y="411480"/>
            <a:ext cx="0" cy="493776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99248" y="411480"/>
            <a:ext cx="0" cy="493776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51976" y="411480"/>
            <a:ext cx="0" cy="493776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04704" y="411480"/>
            <a:ext cx="0" cy="493776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57432" y="411480"/>
            <a:ext cx="0" cy="493776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199632" y="749808"/>
            <a:ext cx="5431536" cy="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99632" y="1572768"/>
            <a:ext cx="5431536" cy="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99632" y="2395728"/>
            <a:ext cx="5431536" cy="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99632" y="3218688"/>
            <a:ext cx="5431536" cy="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99632" y="4041648"/>
            <a:ext cx="5431536" cy="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99632" y="4864608"/>
            <a:ext cx="5431536" cy="0"/>
          </a:xfrm>
          <a:prstGeom prst="line">
            <a:avLst/>
          </a:prstGeom>
          <a:ln w="5715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29400" y="868680"/>
            <a:ext cx="795527" cy="246888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24927" y="786384"/>
            <a:ext cx="832104" cy="329184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57031" y="786384"/>
            <a:ext cx="996697" cy="438912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253728" y="896112"/>
            <a:ext cx="1033272" cy="329184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87000" y="896112"/>
            <a:ext cx="941832" cy="457200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059168" y="1115568"/>
            <a:ext cx="365759" cy="667512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9168" y="1783080"/>
            <a:ext cx="914400" cy="320040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973568" y="1755648"/>
            <a:ext cx="950976" cy="347472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24544" y="1755648"/>
            <a:ext cx="932688" cy="493776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57232" y="2011680"/>
            <a:ext cx="1042416" cy="237744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99648" y="2011680"/>
            <a:ext cx="493776" cy="603504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24544" y="1225296"/>
            <a:ext cx="329184" cy="530352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899648" y="1353312"/>
            <a:ext cx="329184" cy="658368"/>
          </a:xfrm>
          <a:prstGeom prst="line">
            <a:avLst/>
          </a:prstGeom>
          <a:ln w="825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604254" y="843534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99781" y="1090422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18169" y="747522"/>
            <a:ext cx="77724" cy="77724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56448" y="685800"/>
            <a:ext cx="201168" cy="201168"/>
          </a:xfrm>
          <a:prstGeom prst="ellipse">
            <a:avLst/>
          </a:prstGeom>
          <a:noFill/>
          <a:ln w="6985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28582" y="1200150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61854" y="870966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03686" y="1328166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34022" y="1757934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34706" y="2064257"/>
            <a:ext cx="77724" cy="77724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72984" y="2002536"/>
            <a:ext cx="201168" cy="201168"/>
          </a:xfrm>
          <a:prstGeom prst="ellipse">
            <a:avLst/>
          </a:prstGeom>
          <a:noFill/>
          <a:ln w="6985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99398" y="1730501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32086" y="2224278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60786" y="1972818"/>
            <a:ext cx="77724" cy="77724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99064" y="1911096"/>
            <a:ext cx="201168" cy="201168"/>
          </a:xfrm>
          <a:prstGeom prst="ellipse">
            <a:avLst/>
          </a:prstGeom>
          <a:noFill/>
          <a:ln w="6985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68278" y="2590038"/>
            <a:ext cx="50292" cy="50292"/>
          </a:xfrm>
          <a:prstGeom prst="ellipse">
            <a:avLst/>
          </a:prstGeom>
          <a:solidFill>
            <a:srgbClr val="425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60920" y="274320"/>
            <a:ext cx="2240280" cy="329184"/>
          </a:xfrm>
          <a:prstGeom prst="roundRect">
            <a:avLst/>
          </a:prstGeom>
          <a:noFill/>
          <a:ln w="7620">
            <a:solidFill>
              <a:srgbClr val="33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792" y="29260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80">
                <a:solidFill>
                  <a:srgbClr val="6C7F94"/>
                </a:solidFill>
                <a:latin typeface="Inter"/>
              </a:rPr>
              <a:t>COORDENAÇÃO  /  147 MENSAGENS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1399032"/>
            <a:ext cx="2057400" cy="329184"/>
          </a:xfrm>
          <a:prstGeom prst="roundRect">
            <a:avLst/>
          </a:prstGeom>
          <a:noFill/>
          <a:ln w="7620">
            <a:solidFill>
              <a:srgbClr val="33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37192" y="141732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80">
                <a:solidFill>
                  <a:srgbClr val="6C7F94"/>
                </a:solidFill>
                <a:latin typeface="Inter"/>
              </a:rPr>
              <a:t>AGENDA  /  ATUALIZADA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2267712"/>
            <a:ext cx="2057400" cy="329184"/>
          </a:xfrm>
          <a:prstGeom prst="roundRect">
            <a:avLst/>
          </a:prstGeom>
          <a:noFill/>
          <a:ln w="7620">
            <a:solidFill>
              <a:srgbClr val="33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56832" y="228600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80">
                <a:solidFill>
                  <a:srgbClr val="6C7F94"/>
                </a:solidFill>
                <a:latin typeface="Inter"/>
              </a:rPr>
              <a:t>RETORNO  /  PENDENTE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2578608"/>
            <a:ext cx="2331720" cy="329184"/>
          </a:xfrm>
          <a:prstGeom prst="roundRect">
            <a:avLst/>
          </a:prstGeom>
          <a:noFill/>
          <a:ln w="7620">
            <a:solidFill>
              <a:srgbClr val="33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4312" y="2596896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80">
                <a:solidFill>
                  <a:srgbClr val="6C7F94"/>
                </a:solidFill>
                <a:latin typeface="Inter"/>
              </a:rPr>
              <a:t>ATIVIDADE  /  CONCLUÍDA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21207"/>
            <a:ext cx="310896" cy="22860"/>
          </a:xfrm>
          <a:prstGeom prst="rect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411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90">
                <a:solidFill>
                  <a:srgbClr val="C8A86B"/>
                </a:solidFill>
                <a:latin typeface="Inter"/>
              </a:rPr>
              <a:t>RETA FINAL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99648" y="411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C7F94"/>
                </a:solidFill>
                <a:latin typeface="Inter"/>
              </a:rPr>
              <a:t>01 / 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1060704"/>
            <a:ext cx="571500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5F3EE"/>
                </a:solidFill>
                <a:latin typeface="Cormorant Garamond"/>
              </a:rPr>
              <a:t>Quanto maior a campanha,
mais difícil enxergar
o que realmente acontece.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" y="2816352"/>
            <a:ext cx="475488" cy="32004"/>
          </a:xfrm>
          <a:prstGeom prst="rect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3035808"/>
            <a:ext cx="50749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EB9C5"/>
                </a:solidFill>
                <a:latin typeface="Inter"/>
              </a:rPr>
              <a:t>Mais gente entra. Novos territórios se movem. Compromissos se multiplicam.
A operação cresce mais rápido do que a informação chega ao comando.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319125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10">
                <a:solidFill>
                  <a:srgbClr val="C8A86B"/>
                </a:solidFill>
                <a:latin typeface="Inter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9168" y="3127248"/>
            <a:ext cx="43159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F5F3EE"/>
                </a:solidFill>
                <a:latin typeface="Inter"/>
              </a:rPr>
              <a:t>Onde estamos avançando de verdade?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65392" y="3611880"/>
            <a:ext cx="4864608" cy="0"/>
          </a:xfrm>
          <a:prstGeom prst="line">
            <a:avLst/>
          </a:prstGeom>
          <a:ln w="698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565392" y="380390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10">
                <a:solidFill>
                  <a:srgbClr val="C8A86B"/>
                </a:solidFill>
                <a:latin typeface="Inter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9168" y="3739896"/>
            <a:ext cx="43159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F5F3EE"/>
                </a:solidFill>
                <a:latin typeface="Inter"/>
              </a:rPr>
              <a:t>O que foi combinado e ainda não virou execução?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65392" y="4224528"/>
            <a:ext cx="4864608" cy="0"/>
          </a:xfrm>
          <a:prstGeom prst="line">
            <a:avLst/>
          </a:prstGeom>
          <a:ln w="698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65392" y="441655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10">
                <a:solidFill>
                  <a:srgbClr val="C8A86B"/>
                </a:solidFill>
                <a:latin typeface="Inter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59168" y="4352544"/>
            <a:ext cx="43159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F5F3EE"/>
                </a:solidFill>
                <a:latin typeface="Inter"/>
              </a:rPr>
              <a:t>Onde minha atenção é necessária amanhã?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565392" y="4837176"/>
            <a:ext cx="4864608" cy="0"/>
          </a:xfrm>
          <a:prstGeom prst="line">
            <a:avLst/>
          </a:prstGeom>
          <a:ln w="698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76656" y="5586984"/>
            <a:ext cx="5102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F5F3EE"/>
                </a:solidFill>
                <a:latin typeface="Cormorant Garamond"/>
              </a:rPr>
              <a:t>Na reta final, informação atrasada
vira decisão atrasada.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56248" y="5541264"/>
            <a:ext cx="32004" cy="667512"/>
          </a:xfrm>
          <a:prstGeom prst="rect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21424" y="5513832"/>
            <a:ext cx="45537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3EE"/>
                </a:solidFill>
                <a:latin typeface="Inter"/>
              </a:rPr>
              <a:t>E se tudo o que acontece na rua
chegasse organizado até você?</a:t>
            </a:r>
          </a:p>
        </p:txBody>
      </p:sp>
      <p:sp>
        <p:nvSpPr>
          <p:cNvPr id="68" name="Oval 67"/>
          <p:cNvSpPr/>
          <p:nvPr/>
        </p:nvSpPr>
        <p:spPr>
          <a:xfrm>
            <a:off x="11375136" y="5806440"/>
            <a:ext cx="146304" cy="146304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1228832" y="5879592"/>
            <a:ext cx="274320" cy="0"/>
          </a:xfrm>
          <a:prstGeom prst="line">
            <a:avLst/>
          </a:prstGeom>
          <a:ln w="13970">
            <a:solidFill>
              <a:srgbClr val="C8A8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9467" y="495147"/>
            <a:ext cx="106984" cy="106984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9515" y="425196"/>
            <a:ext cx="246888" cy="246888"/>
          </a:xfrm>
          <a:prstGeom prst="ellipse">
            <a:avLst/>
          </a:prstGeom>
          <a:noFill/>
          <a:ln w="11430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5449" y="351129"/>
            <a:ext cx="395020" cy="395020"/>
          </a:xfrm>
          <a:prstGeom prst="ellipse">
            <a:avLst/>
          </a:prstGeom>
          <a:noFill/>
          <a:ln w="7620">
            <a:solidFill>
              <a:srgbClr val="0B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65759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160">
                <a:solidFill>
                  <a:srgbClr val="0B1D33"/>
                </a:solidFill>
                <a:latin typeface="Inter"/>
              </a:rPr>
              <a:t>PULSO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43891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95">
                <a:solidFill>
                  <a:srgbClr val="42566D"/>
                </a:solidFill>
                <a:latin typeface="Inter"/>
              </a:rPr>
              <a:t>CENTRAL DE OPERAÇÃO E INTELIGÊNCIA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43891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45">
                <a:solidFill>
                  <a:srgbClr val="C8A86B"/>
                </a:solidFill>
                <a:latin typeface="Inter"/>
              </a:rPr>
              <a:t>DA RUA À DECISÃO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438912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2566D"/>
                </a:solidFill>
                <a:latin typeface="Inter"/>
              </a:rPr>
              <a:t>02 /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941832"/>
            <a:ext cx="635508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0B1D33"/>
                </a:solidFill>
                <a:latin typeface="Cormorant Garamond"/>
              </a:rPr>
              <a:t>Sua campanha sob controle.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572768"/>
            <a:ext cx="635508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24364A"/>
                </a:solidFill>
                <a:latin typeface="Inter"/>
              </a:rPr>
              <a:t>Sua equipe continua trabalhando como já trabalha. Inclusive pelo WhatsApp.
PULSO organiza o movimento e devolve ao comando uma visão objetiva do que merece atenção.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" y="2670048"/>
            <a:ext cx="6044184" cy="0"/>
          </a:xfrm>
          <a:prstGeom prst="line">
            <a:avLst/>
          </a:prstGeom>
          <a:ln w="14604">
            <a:solidFill>
              <a:srgbClr val="C8A8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00100" y="2592324"/>
            <a:ext cx="155448" cy="155448"/>
          </a:xfrm>
          <a:prstGeom prst="ellipse">
            <a:avLst/>
          </a:prstGeom>
          <a:solidFill>
            <a:srgbClr val="F5F3EE"/>
          </a:solidFill>
          <a:ln w="15240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2678" y="2644902"/>
            <a:ext cx="50292" cy="50292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81635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 spc="70">
                <a:solidFill>
                  <a:srgbClr val="0B1D33"/>
                </a:solidFill>
                <a:latin typeface="Inter"/>
              </a:rPr>
              <a:t>RUA +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081528"/>
            <a:ext cx="16184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2566D"/>
                </a:solidFill>
                <a:latin typeface="Inter"/>
              </a:rPr>
              <a:t>A equipe registra.</a:t>
            </a:r>
          </a:p>
        </p:txBody>
      </p:sp>
      <p:sp>
        <p:nvSpPr>
          <p:cNvPr id="18" name="Oval 17"/>
          <p:cNvSpPr/>
          <p:nvPr/>
        </p:nvSpPr>
        <p:spPr>
          <a:xfrm>
            <a:off x="2756916" y="2592324"/>
            <a:ext cx="155448" cy="155448"/>
          </a:xfrm>
          <a:prstGeom prst="ellipse">
            <a:avLst/>
          </a:prstGeom>
          <a:solidFill>
            <a:srgbClr val="C8A86B"/>
          </a:solidFill>
          <a:ln w="15240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09494" y="2644902"/>
            <a:ext cx="50292" cy="50292"/>
          </a:xfrm>
          <a:prstGeom prst="ellipse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281635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 spc="70">
                <a:solidFill>
                  <a:srgbClr val="0B1D33"/>
                </a:solidFill>
                <a:latin typeface="Inter"/>
              </a:rPr>
              <a:t>PULSO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3081528"/>
            <a:ext cx="16184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2566D"/>
                </a:solidFill>
                <a:latin typeface="Inter"/>
              </a:rPr>
              <a:t>A operação ganha estrutura.</a:t>
            </a:r>
          </a:p>
        </p:txBody>
      </p:sp>
      <p:sp>
        <p:nvSpPr>
          <p:cNvPr id="22" name="Oval 21"/>
          <p:cNvSpPr/>
          <p:nvPr/>
        </p:nvSpPr>
        <p:spPr>
          <a:xfrm>
            <a:off x="4658868" y="2592324"/>
            <a:ext cx="155448" cy="155448"/>
          </a:xfrm>
          <a:prstGeom prst="ellipse">
            <a:avLst/>
          </a:prstGeom>
          <a:solidFill>
            <a:srgbClr val="F5F3EE"/>
          </a:solidFill>
          <a:ln w="15240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11446" y="2644902"/>
            <a:ext cx="50292" cy="50292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281635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 spc="70">
                <a:solidFill>
                  <a:srgbClr val="0B1D33"/>
                </a:solidFill>
                <a:latin typeface="Inter"/>
              </a:rPr>
              <a:t>MAPA + INDICADORES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081528"/>
            <a:ext cx="16184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2566D"/>
                </a:solidFill>
                <a:latin typeface="Inter"/>
              </a:rPr>
              <a:t>O território fica visível.</a:t>
            </a:r>
          </a:p>
        </p:txBody>
      </p:sp>
      <p:sp>
        <p:nvSpPr>
          <p:cNvPr id="26" name="Oval 25"/>
          <p:cNvSpPr/>
          <p:nvPr/>
        </p:nvSpPr>
        <p:spPr>
          <a:xfrm>
            <a:off x="6688836" y="2592324"/>
            <a:ext cx="155448" cy="155448"/>
          </a:xfrm>
          <a:prstGeom prst="ellipse">
            <a:avLst/>
          </a:prstGeom>
          <a:solidFill>
            <a:srgbClr val="C8A86B"/>
          </a:solidFill>
          <a:ln w="15240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41414" y="2644902"/>
            <a:ext cx="50292" cy="50292"/>
          </a:xfrm>
          <a:prstGeom prst="ellipse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81635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 spc="70">
                <a:solidFill>
                  <a:srgbClr val="0B1D33"/>
                </a:solidFill>
                <a:latin typeface="Inter"/>
              </a:rPr>
              <a:t>COMANDO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081528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2566D"/>
                </a:solidFill>
                <a:latin typeface="Inter"/>
              </a:rPr>
              <a:t>Você sabe onde agir.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3621024"/>
            <a:ext cx="6428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42">
                <a:solidFill>
                  <a:srgbClr val="42566D"/>
                </a:solidFill>
                <a:latin typeface="Inter"/>
              </a:rPr>
              <a:t>PESSOAS  ·  TERRITÓRIO  ·  OPERAÇÃO  ·  MOBILIZAÇÃO  ·  DEMANDAS  ·  INTELIGÊNCIA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6656" y="3922776"/>
            <a:ext cx="6409944" cy="0"/>
          </a:xfrm>
          <a:prstGeom prst="line">
            <a:avLst/>
          </a:prstGeom>
          <a:ln w="10160">
            <a:solidFill>
              <a:srgbClr val="E9E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8368" y="4133087"/>
            <a:ext cx="6428232" cy="795528"/>
          </a:xfrm>
          <a:prstGeom prst="roundRect">
            <a:avLst/>
          </a:prstGeom>
          <a:solidFill>
            <a:srgbClr val="E9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133087"/>
            <a:ext cx="50292" cy="795528"/>
          </a:xfrm>
          <a:prstGeom prst="rect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70248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 spc="90">
                <a:solidFill>
                  <a:srgbClr val="C8A86B"/>
                </a:solidFill>
                <a:latin typeface="Inter"/>
              </a:rPr>
              <a:t>1 HORA POR SEMANA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2848" y="4224528"/>
            <a:ext cx="4535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0B1D33"/>
                </a:solidFill>
                <a:latin typeface="Inter"/>
              </a:rPr>
              <a:t>Reunião Semanal de Inteligência Operacional
com nossa equipe.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02352"/>
            <a:ext cx="6537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1" i="0" spc="28">
                <a:solidFill>
                  <a:srgbClr val="42566D"/>
                </a:solidFill>
                <a:latin typeface="Inter"/>
              </a:rPr>
              <a:t>DIAGNÓSTICO  →  CONFIGURAÇÃO  →  ORGANIZAÇÃO INICIAL  →  IMPLANTAÇÃO  →  TREINAMENTO  →  ACOMPANHAMENTO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742432"/>
            <a:ext cx="70591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4364A"/>
                </a:solidFill>
                <a:latin typeface="Inter"/>
              </a:rPr>
              <a:t>PULSO será implantado em um grupo restrito de campanhas nesta eleição.
Novas campanhas serão aceitas até atingirmos a capacidade de implantação acompanhada.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960120"/>
            <a:ext cx="3913632" cy="4489704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7909560" y="4187952"/>
            <a:ext cx="365760" cy="310896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75320" y="4187952"/>
            <a:ext cx="374904" cy="228600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50224" y="4041648"/>
            <a:ext cx="347472" cy="374904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997696" y="4041648"/>
            <a:ext cx="310896" cy="274320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308592" y="3931920"/>
            <a:ext cx="310896" cy="384048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19488" y="3931920"/>
            <a:ext cx="365760" cy="256032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985248" y="3813048"/>
            <a:ext cx="347472" cy="374904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332720" y="3813048"/>
            <a:ext cx="365760" cy="265176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698480" y="3749039"/>
            <a:ext cx="420624" cy="329185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888986" y="4478274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54746" y="4167378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29650" y="4395978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77122" y="4021074"/>
            <a:ext cx="41148" cy="41148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88017" y="4295394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98913" y="3911346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64674" y="4167378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12146" y="3792474"/>
            <a:ext cx="41148" cy="41148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677905" y="4057650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098530" y="3728465"/>
            <a:ext cx="41148" cy="41148"/>
          </a:xfrm>
          <a:prstGeom prst="ellipse">
            <a:avLst/>
          </a:prstGeom>
          <a:solidFill>
            <a:srgbClr val="334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79" y="1225296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 spc="105">
                <a:solidFill>
                  <a:srgbClr val="C8A86B"/>
                </a:solidFill>
                <a:latin typeface="Inter"/>
              </a:rPr>
              <a:t>PERGUNTE NO WHATSAPP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36992" y="1545336"/>
            <a:ext cx="3273552" cy="530352"/>
          </a:xfrm>
          <a:prstGeom prst="roundRect">
            <a:avLst/>
          </a:prstGeom>
          <a:solidFill>
            <a:srgbClr val="24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56448" y="1618488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F5F3EE"/>
                </a:solidFill>
                <a:latin typeface="Inter"/>
              </a:rPr>
              <a:t>“Como foi minha campanha hoje?”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2258568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92">
                <a:solidFill>
                  <a:srgbClr val="C8A86B"/>
                </a:solidFill>
                <a:latin typeface="Inter"/>
              </a:rPr>
              <a:t>BRIEFING PULSO  ·  SIMULAÇÃO</a:t>
            </a:r>
          </a:p>
        </p:txBody>
      </p:sp>
      <p:sp>
        <p:nvSpPr>
          <p:cNvPr id="62" name="Oval 61"/>
          <p:cNvSpPr/>
          <p:nvPr/>
        </p:nvSpPr>
        <p:spPr>
          <a:xfrm>
            <a:off x="8003286" y="2708910"/>
            <a:ext cx="50292" cy="50292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74736" y="2615184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FFFF"/>
                </a:solidFill>
                <a:latin typeface="Inter"/>
              </a:rPr>
              <a:t>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14232" y="263347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EB9C5"/>
                </a:solidFill>
                <a:latin typeface="Inter"/>
              </a:rPr>
              <a:t>equipes registraram atividade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973568" y="2990088"/>
            <a:ext cx="3200400" cy="0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003286" y="3138677"/>
            <a:ext cx="50292" cy="50292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74736" y="3044951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14232" y="3063239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EB9C5"/>
                </a:solidFill>
                <a:latin typeface="Inter"/>
              </a:rPr>
              <a:t>municípios tiveram mobilização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973568" y="3419856"/>
            <a:ext cx="3200400" cy="0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8003286" y="3568445"/>
            <a:ext cx="50292" cy="50292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74736" y="3474719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14232" y="3493007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EB9C5"/>
                </a:solidFill>
                <a:latin typeface="Inter"/>
              </a:rPr>
              <a:t>regiões perderam ritmo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973568" y="3849623"/>
            <a:ext cx="3200400" cy="0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8003286" y="3998213"/>
            <a:ext cx="50292" cy="50292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74736" y="3904487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14232" y="3922775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EB9C5"/>
                </a:solidFill>
                <a:latin typeface="Inter"/>
              </a:rPr>
              <a:t>tarefas críticas vencem amanhã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973568" y="4279391"/>
            <a:ext cx="3200400" cy="0"/>
          </a:xfrm>
          <a:prstGeom prst="line">
            <a:avLst/>
          </a:prstGeom>
          <a:ln w="5715">
            <a:solidFill>
              <a:srgbClr val="33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8003286" y="4427981"/>
            <a:ext cx="50292" cy="50292"/>
          </a:xfrm>
          <a:prstGeom prst="ellipse">
            <a:avLst/>
          </a:prstGeom>
          <a:solidFill>
            <a:srgbClr val="C8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74736" y="4334255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14232" y="435254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EB9C5"/>
                </a:solidFill>
                <a:latin typeface="Inter"/>
              </a:rPr>
              <a:t>eventos aguardam confirmação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79" y="48737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3EE"/>
                </a:solidFill>
                <a:latin typeface="Inter"/>
              </a:rPr>
              <a:t>Em segundos, você vê o que antes
exigia horas e várias pessoas.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75320" y="5797296"/>
            <a:ext cx="3273552" cy="621792"/>
          </a:xfrm>
          <a:prstGeom prst="roundRect">
            <a:avLst/>
          </a:prstGeom>
          <a:solidFill>
            <a:srgbClr val="0B1D33"/>
          </a:solidFill>
          <a:ln w="12700">
            <a:solidFill>
              <a:srgbClr val="C8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94192" y="590702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F5F3EE"/>
                </a:solidFill>
                <a:latin typeface="Inter"/>
              </a:rPr>
              <a:t>VEJA SUA CAMPANHA DENTRO DO PULSO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PULSO — Material Comercial</dc:title>
  <dc:subject>Central de Operação e Inteligência para campanhas eleitorais</dc:subject>
  <dc:creator>SOMPER Capital</dc:creator>
  <cp:keywords/>
  <dc:description>Peça comercial de duas páginas. Dados do briefing são simulação explícita.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